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Lato" panose="020F0502020204030203" pitchFamily="34" charset="0"/>
      <p:regular r:id="rId13"/>
      <p:bold r:id="rId14"/>
      <p:italic r:id="rId15"/>
      <p:boldItalic r:id="rId16"/>
    </p:embeddedFont>
    <p:embeddedFont>
      <p:font typeface="Lexend" panose="020B0604020202020204" charset="0"/>
      <p:regular r:id="rId17"/>
      <p:bold r:id="rId18"/>
    </p:embeddedFont>
    <p:embeddedFont>
      <p:font typeface="Lexend Medium" panose="020B0604020202020204" charset="0"/>
      <p:regular r:id="rId19"/>
      <p:bold r:id="rId20"/>
    </p:embeddedFont>
    <p:embeddedFont>
      <p:font typeface="Raleway" pitchFamily="2" charset="0"/>
      <p:regular r:id="rId21"/>
      <p:bold r:id="rId22"/>
      <p:italic r:id="rId23"/>
      <p:boldItalic r:id="rId24"/>
    </p:embeddedFont>
    <p:embeddedFont>
      <p:font typeface="Raleway Medium" pitchFamily="2" charset="0"/>
      <p:regular r:id="rId25"/>
      <p:bold r:id="rId26"/>
      <p:italic r:id="rId27"/>
      <p:boldItalic r:id="rId28"/>
    </p:embeddedFont>
    <p:embeddedFont>
      <p:font typeface="Raleway SemiBold"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4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cb9a0b07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b9a0b0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d5b15f0a3_5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d5b15f0a3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72363054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d251bb473_0_6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d251bb473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cb9a0b074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cb9a0b074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d251bb473_0_6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d251bb473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d814cf7d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d814cf7d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23630543_5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23630543_5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bb87217969_0_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bb8721796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cb9a0b074_1_1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cb9a0b074_1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20" name="Google Shape;20;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353535"/>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3600">
                <a:solidFill>
                  <a:schemeClr val="dk1"/>
                </a:solidFill>
              </a:defRPr>
            </a:lvl1pPr>
            <a:lvl2pPr lvl="1" algn="ctr" rtl="0">
              <a:spcBef>
                <a:spcPts val="0"/>
              </a:spcBef>
              <a:spcAft>
                <a:spcPts val="0"/>
              </a:spcAft>
              <a:buClr>
                <a:schemeClr val="dk1"/>
              </a:buClr>
              <a:buSzPts val="3600"/>
              <a:buNone/>
              <a:defRPr sz="3600">
                <a:solidFill>
                  <a:schemeClr val="dk1"/>
                </a:solidFill>
              </a:defRPr>
            </a:lvl2pPr>
            <a:lvl3pPr lvl="2" algn="ctr" rtl="0">
              <a:spcBef>
                <a:spcPts val="0"/>
              </a:spcBef>
              <a:spcAft>
                <a:spcPts val="0"/>
              </a:spcAft>
              <a:buClr>
                <a:schemeClr val="dk1"/>
              </a:buClr>
              <a:buSzPts val="3600"/>
              <a:buNone/>
              <a:defRPr sz="3600">
                <a:solidFill>
                  <a:schemeClr val="dk1"/>
                </a:solidFill>
              </a:defRPr>
            </a:lvl3pPr>
            <a:lvl4pPr lvl="3" algn="ctr" rtl="0">
              <a:spcBef>
                <a:spcPts val="0"/>
              </a:spcBef>
              <a:spcAft>
                <a:spcPts val="0"/>
              </a:spcAft>
              <a:buClr>
                <a:schemeClr val="dk1"/>
              </a:buClr>
              <a:buSzPts val="3600"/>
              <a:buNone/>
              <a:defRPr sz="3600">
                <a:solidFill>
                  <a:schemeClr val="dk1"/>
                </a:solidFill>
              </a:defRPr>
            </a:lvl4pPr>
            <a:lvl5pPr lvl="4" algn="ctr" rtl="0">
              <a:spcBef>
                <a:spcPts val="0"/>
              </a:spcBef>
              <a:spcAft>
                <a:spcPts val="0"/>
              </a:spcAft>
              <a:buClr>
                <a:schemeClr val="dk1"/>
              </a:buClr>
              <a:buSzPts val="3600"/>
              <a:buNone/>
              <a:defRPr sz="3600">
                <a:solidFill>
                  <a:schemeClr val="dk1"/>
                </a:solidFill>
              </a:defRPr>
            </a:lvl5pPr>
            <a:lvl6pPr lvl="5" algn="ctr" rtl="0">
              <a:spcBef>
                <a:spcPts val="0"/>
              </a:spcBef>
              <a:spcAft>
                <a:spcPts val="0"/>
              </a:spcAft>
              <a:buClr>
                <a:schemeClr val="dk1"/>
              </a:buClr>
              <a:buSzPts val="3600"/>
              <a:buNone/>
              <a:defRPr sz="3600">
                <a:solidFill>
                  <a:schemeClr val="dk1"/>
                </a:solidFill>
              </a:defRPr>
            </a:lvl6pPr>
            <a:lvl7pPr lvl="6" algn="ctr" rtl="0">
              <a:spcBef>
                <a:spcPts val="0"/>
              </a:spcBef>
              <a:spcAft>
                <a:spcPts val="0"/>
              </a:spcAft>
              <a:buClr>
                <a:schemeClr val="dk1"/>
              </a:buClr>
              <a:buSzPts val="3600"/>
              <a:buNone/>
              <a:defRPr sz="3600">
                <a:solidFill>
                  <a:schemeClr val="dk1"/>
                </a:solidFill>
              </a:defRPr>
            </a:lvl7pPr>
            <a:lvl8pPr lvl="7" algn="ctr" rtl="0">
              <a:spcBef>
                <a:spcPts val="0"/>
              </a:spcBef>
              <a:spcAft>
                <a:spcPts val="0"/>
              </a:spcAft>
              <a:buClr>
                <a:schemeClr val="dk1"/>
              </a:buClr>
              <a:buSzPts val="3600"/>
              <a:buNone/>
              <a:defRPr sz="3600">
                <a:solidFill>
                  <a:schemeClr val="dk1"/>
                </a:solidFill>
              </a:defRPr>
            </a:lvl8pPr>
            <a:lvl9pPr lvl="8" algn="ctr" rtl="0">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Lato"/>
                <a:ea typeface="Lato"/>
                <a:cs typeface="Lato"/>
                <a:sym typeface="Lato"/>
              </a:defRPr>
            </a:lvl1pPr>
            <a:lvl2pPr lvl="1" algn="r" rtl="0">
              <a:buNone/>
              <a:defRPr sz="1000">
                <a:solidFill>
                  <a:schemeClr val="dk2"/>
                </a:solidFill>
                <a:latin typeface="Lato"/>
                <a:ea typeface="Lato"/>
                <a:cs typeface="Lato"/>
                <a:sym typeface="Lato"/>
              </a:defRPr>
            </a:lvl2pPr>
            <a:lvl3pPr lvl="2" algn="r" rtl="0">
              <a:buNone/>
              <a:defRPr sz="1000">
                <a:solidFill>
                  <a:schemeClr val="dk2"/>
                </a:solidFill>
                <a:latin typeface="Lato"/>
                <a:ea typeface="Lato"/>
                <a:cs typeface="Lato"/>
                <a:sym typeface="Lato"/>
              </a:defRPr>
            </a:lvl3pPr>
            <a:lvl4pPr lvl="3" algn="r" rtl="0">
              <a:buNone/>
              <a:defRPr sz="1000">
                <a:solidFill>
                  <a:schemeClr val="dk2"/>
                </a:solidFill>
                <a:latin typeface="Lato"/>
                <a:ea typeface="Lato"/>
                <a:cs typeface="Lato"/>
                <a:sym typeface="Lato"/>
              </a:defRPr>
            </a:lvl4pPr>
            <a:lvl5pPr lvl="4" algn="r" rtl="0">
              <a:buNone/>
              <a:defRPr sz="1000">
                <a:solidFill>
                  <a:schemeClr val="dk2"/>
                </a:solidFill>
                <a:latin typeface="Lato"/>
                <a:ea typeface="Lato"/>
                <a:cs typeface="Lato"/>
                <a:sym typeface="Lato"/>
              </a:defRPr>
            </a:lvl5pPr>
            <a:lvl6pPr lvl="5" algn="r" rtl="0">
              <a:buNone/>
              <a:defRPr sz="1000">
                <a:solidFill>
                  <a:schemeClr val="dk2"/>
                </a:solidFill>
                <a:latin typeface="Lato"/>
                <a:ea typeface="Lato"/>
                <a:cs typeface="Lato"/>
                <a:sym typeface="Lato"/>
              </a:defRPr>
            </a:lvl6pPr>
            <a:lvl7pPr lvl="6" algn="r" rtl="0">
              <a:buNone/>
              <a:defRPr sz="1000">
                <a:solidFill>
                  <a:schemeClr val="dk2"/>
                </a:solidFill>
                <a:latin typeface="Lato"/>
                <a:ea typeface="Lato"/>
                <a:cs typeface="Lato"/>
                <a:sym typeface="Lato"/>
              </a:defRPr>
            </a:lvl7pPr>
            <a:lvl8pPr lvl="7" algn="r" rtl="0">
              <a:buNone/>
              <a:defRPr sz="1000">
                <a:solidFill>
                  <a:schemeClr val="dk2"/>
                </a:solidFill>
                <a:latin typeface="Lato"/>
                <a:ea typeface="Lato"/>
                <a:cs typeface="Lato"/>
                <a:sym typeface="Lato"/>
              </a:defRPr>
            </a:lvl8pPr>
            <a:lvl9pPr lvl="8" algn="r" rtl="0">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86E8"/>
        </a:solidFill>
        <a:effectLst/>
      </p:bgPr>
    </p:bg>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1375750" y="630225"/>
            <a:ext cx="7327500" cy="15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a:t>CLIENT PROJECT</a:t>
            </a:r>
            <a:endParaRPr sz="4500"/>
          </a:p>
          <a:p>
            <a:pPr marL="0" lvl="0" indent="0" algn="l" rtl="0">
              <a:spcBef>
                <a:spcPts val="0"/>
              </a:spcBef>
              <a:spcAft>
                <a:spcPts val="0"/>
              </a:spcAft>
              <a:buNone/>
            </a:pPr>
            <a:r>
              <a:rPr lang="en" sz="4000"/>
              <a:t>SUPPLY CHAIN ANALYSIS</a:t>
            </a:r>
            <a:endParaRPr sz="4000"/>
          </a:p>
        </p:txBody>
      </p:sp>
      <p:sp>
        <p:nvSpPr>
          <p:cNvPr id="73" name="Google Shape;73;p13"/>
          <p:cNvSpPr txBox="1"/>
          <p:nvPr/>
        </p:nvSpPr>
        <p:spPr>
          <a:xfrm>
            <a:off x="1485475" y="2148250"/>
            <a:ext cx="6775800" cy="7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TEAM ID: PTID-CDA-OCT-25-803</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PROJECT ID: CDACL-003-SUPPLY CHAIN ANALYSIS</a:t>
            </a:r>
            <a:endParaRPr sz="1800">
              <a:solidFill>
                <a:schemeClr val="lt1"/>
              </a:solidFill>
              <a:latin typeface="Raleway SemiBold"/>
              <a:ea typeface="Raleway SemiBold"/>
              <a:cs typeface="Raleway SemiBold"/>
              <a:sym typeface="Raleway SemiBold"/>
            </a:endParaRPr>
          </a:p>
        </p:txBody>
      </p:sp>
      <p:sp>
        <p:nvSpPr>
          <p:cNvPr id="74" name="Google Shape;74;p13"/>
          <p:cNvSpPr txBox="1"/>
          <p:nvPr/>
        </p:nvSpPr>
        <p:spPr>
          <a:xfrm>
            <a:off x="1485475" y="2902750"/>
            <a:ext cx="2798400" cy="13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TEAM MEMBERS:</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ADITYA HINGRAJIYA</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AKSHAR PANCHAL</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 sz="1800">
                <a:solidFill>
                  <a:schemeClr val="lt1"/>
                </a:solidFill>
                <a:latin typeface="Raleway SemiBold"/>
                <a:ea typeface="Raleway SemiBold"/>
                <a:cs typeface="Raleway SemiBold"/>
                <a:sym typeface="Raleway SemiBold"/>
              </a:rPr>
              <a:t>MEDHAKSHI PANDYA</a:t>
            </a:r>
            <a:endParaRPr sz="1800">
              <a:solidFill>
                <a:schemeClr val="lt1"/>
              </a:solidFill>
              <a:latin typeface="Raleway SemiBold"/>
              <a:ea typeface="Raleway SemiBold"/>
              <a:cs typeface="Raleway SemiBold"/>
              <a:sym typeface="Raleway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14"/>
          <p:cNvSpPr txBox="1">
            <a:spLocks noGrp="1"/>
          </p:cNvSpPr>
          <p:nvPr>
            <p:ph type="title" idx="4294967295"/>
          </p:nvPr>
        </p:nvSpPr>
        <p:spPr>
          <a:xfrm>
            <a:off x="535775" y="712150"/>
            <a:ext cx="5197200" cy="76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3600">
                <a:solidFill>
                  <a:schemeClr val="accent3"/>
                </a:solidFill>
              </a:rPr>
              <a:t>INTRODUCTION</a:t>
            </a:r>
            <a:endParaRPr sz="2400">
              <a:solidFill>
                <a:schemeClr val="accent3"/>
              </a:solidFill>
            </a:endParaRPr>
          </a:p>
        </p:txBody>
      </p:sp>
      <p:sp>
        <p:nvSpPr>
          <p:cNvPr id="80" name="Google Shape;80;p14"/>
          <p:cNvSpPr txBox="1">
            <a:spLocks noGrp="1"/>
          </p:cNvSpPr>
          <p:nvPr>
            <p:ph type="title" idx="4294967295"/>
          </p:nvPr>
        </p:nvSpPr>
        <p:spPr>
          <a:xfrm>
            <a:off x="393750" y="1363300"/>
            <a:ext cx="8356500" cy="3490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2"/>
              </a:buClr>
              <a:buSzPts val="1100"/>
              <a:buFont typeface="Arial"/>
              <a:buNone/>
            </a:pPr>
            <a:r>
              <a:rPr lang="en" sz="1400" b="0">
                <a:latin typeface="Raleway Medium"/>
                <a:ea typeface="Raleway Medium"/>
                <a:cs typeface="Raleway Medium"/>
                <a:sym typeface="Raleway Medium"/>
              </a:rPr>
              <a:t>Supply Chain Analysis involves the systematic evaluation of material, information, and financial flows across business operations to improve efficiency, service reliability, and cost effectiveness. In a competitive and customer centric marketplace, agile and data-guided supply chains have become a strategic necessity for sustaining business performance. An optimized supply chain improves product availability, enhances customer satisfaction, and reduces operational waste while controlling end-to-end costs.</a:t>
            </a:r>
            <a:endParaRPr sz="1400" b="0">
              <a:latin typeface="Raleway Medium"/>
              <a:ea typeface="Raleway Medium"/>
              <a:cs typeface="Raleway Medium"/>
              <a:sym typeface="Raleway Medium"/>
            </a:endParaRPr>
          </a:p>
          <a:p>
            <a:pPr marL="0" lvl="0" indent="0" algn="l" rtl="0">
              <a:lnSpc>
                <a:spcPct val="115000"/>
              </a:lnSpc>
              <a:spcBef>
                <a:spcPts val="1200"/>
              </a:spcBef>
              <a:spcAft>
                <a:spcPts val="0"/>
              </a:spcAft>
              <a:buClr>
                <a:schemeClr val="dk2"/>
              </a:buClr>
              <a:buSzPts val="1100"/>
              <a:buFont typeface="Arial"/>
              <a:buNone/>
            </a:pPr>
            <a:r>
              <a:rPr lang="en" sz="1400" b="0">
                <a:latin typeface="Raleway Medium"/>
                <a:ea typeface="Raleway Medium"/>
                <a:cs typeface="Raleway Medium"/>
                <a:sym typeface="Raleway Medium"/>
              </a:rPr>
              <a:t>Modern organizations increasingly rely on analytics to gain visibility into supply chain performance and identify operational bottlenecks, inefficiencies, and cost drivers. This project applies analytical techniques to assess supply chain performance across core functional areas, support informed decision making, and identify improvement opportunities that strengthen overall business outcomes.</a:t>
            </a:r>
            <a:endParaRPr sz="1400" b="0">
              <a:latin typeface="Raleway Medium"/>
              <a:ea typeface="Raleway Medium"/>
              <a:cs typeface="Raleway Medium"/>
              <a:sym typeface="Raleway Medium"/>
            </a:endParaRPr>
          </a:p>
          <a:p>
            <a:pPr marL="0" lvl="0" indent="0" algn="l" rtl="0">
              <a:lnSpc>
                <a:spcPct val="115000"/>
              </a:lnSpc>
              <a:spcBef>
                <a:spcPts val="1200"/>
              </a:spcBef>
              <a:spcAft>
                <a:spcPts val="1200"/>
              </a:spcAft>
              <a:buClr>
                <a:schemeClr val="dk2"/>
              </a:buClr>
              <a:buSzPts val="1100"/>
              <a:buFont typeface="Arial"/>
              <a:buNone/>
            </a:pPr>
            <a:endParaRPr sz="1400" b="0">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A86E8"/>
        </a:solidFill>
        <a:effectLst/>
      </p:bgPr>
    </p:bg>
    <p:spTree>
      <p:nvGrpSpPr>
        <p:cNvPr id="1" name="Shape 84"/>
        <p:cNvGrpSpPr/>
        <p:nvPr/>
      </p:nvGrpSpPr>
      <p:grpSpPr>
        <a:xfrm>
          <a:off x="0" y="0"/>
          <a:ext cx="0" cy="0"/>
          <a:chOff x="0" y="0"/>
          <a:chExt cx="0" cy="0"/>
        </a:xfrm>
      </p:grpSpPr>
      <p:pic>
        <p:nvPicPr>
          <p:cNvPr id="85" name="Google Shape;85;p15" title="WhatsApp Image 2026-01-20 at 22.39.01.jpeg"/>
          <p:cNvPicPr preferRelativeResize="0"/>
          <p:nvPr/>
        </p:nvPicPr>
        <p:blipFill>
          <a:blip r:embed="rId3">
            <a:alphaModFix/>
          </a:blip>
          <a:stretch>
            <a:fillRect/>
          </a:stretch>
        </p:blipFill>
        <p:spPr>
          <a:xfrm>
            <a:off x="289575" y="1014997"/>
            <a:ext cx="5969074" cy="3416477"/>
          </a:xfrm>
          <a:prstGeom prst="rect">
            <a:avLst/>
          </a:prstGeom>
          <a:noFill/>
          <a:ln>
            <a:noFill/>
          </a:ln>
        </p:spPr>
      </p:pic>
      <p:sp>
        <p:nvSpPr>
          <p:cNvPr id="86" name="Google Shape;86;p15"/>
          <p:cNvSpPr txBox="1"/>
          <p:nvPr/>
        </p:nvSpPr>
        <p:spPr>
          <a:xfrm>
            <a:off x="6464375" y="1015000"/>
            <a:ext cx="2373000" cy="34164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Skincare is the primary revenue and volume driver, reflecting strong product–market fit and sustained customer demand.</a:t>
            </a:r>
            <a:br>
              <a:rPr lang="en" sz="1100">
                <a:solidFill>
                  <a:schemeClr val="lt1"/>
                </a:solidFill>
                <a:latin typeface="Lato"/>
                <a:ea typeface="Lato"/>
                <a:cs typeface="Lato"/>
                <a:sym typeface="Lato"/>
              </a:rPr>
            </a:br>
            <a:endParaRPr sz="1100">
              <a:solidFill>
                <a:schemeClr val="lt1"/>
              </a:solidFill>
              <a:latin typeface="Lato"/>
              <a:ea typeface="Lato"/>
              <a:cs typeface="Lato"/>
              <a:sym typeface="Lato"/>
            </a:endParaRPr>
          </a:p>
          <a:p>
            <a:pPr marL="457200" lvl="0" indent="-298450" algn="l" rtl="0">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Revenue is highly concentrated in a small number of top-performing SKUs, creating dependency risk and portfolio imbalance.</a:t>
            </a:r>
            <a:br>
              <a:rPr lang="en" sz="1100">
                <a:solidFill>
                  <a:schemeClr val="lt1"/>
                </a:solidFill>
                <a:latin typeface="Lato"/>
                <a:ea typeface="Lato"/>
                <a:cs typeface="Lato"/>
                <a:sym typeface="Lato"/>
              </a:rPr>
            </a:br>
            <a:endParaRPr sz="1100">
              <a:solidFill>
                <a:schemeClr val="lt1"/>
              </a:solidFill>
              <a:latin typeface="Lato"/>
              <a:ea typeface="Lato"/>
              <a:cs typeface="Lato"/>
              <a:sym typeface="Lato"/>
            </a:endParaRPr>
          </a:p>
          <a:p>
            <a:pPr marL="457200" lvl="0" indent="-298450" algn="l" rtl="0">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Cosmetics underperforms on both revenue and sales volume, indicating product mix gaps and untapped growth potential.</a:t>
            </a:r>
            <a:endParaRPr sz="1100">
              <a:solidFill>
                <a:schemeClr val="lt1"/>
              </a:solidFill>
              <a:latin typeface="Lato"/>
              <a:ea typeface="Lato"/>
              <a:cs typeface="Lato"/>
              <a:sym typeface="Lato"/>
            </a:endParaRPr>
          </a:p>
        </p:txBody>
      </p:sp>
      <p:sp>
        <p:nvSpPr>
          <p:cNvPr id="87" name="Google Shape;87;p15"/>
          <p:cNvSpPr txBox="1">
            <a:spLocks noGrp="1"/>
          </p:cNvSpPr>
          <p:nvPr>
            <p:ph type="title" idx="4294967295"/>
          </p:nvPr>
        </p:nvSpPr>
        <p:spPr>
          <a:xfrm>
            <a:off x="453500" y="177200"/>
            <a:ext cx="8274000" cy="654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solidFill>
                  <a:schemeClr val="lt1"/>
                </a:solidFill>
              </a:rPr>
              <a:t>PATTERN-1: SALES &amp; REVENUE ANALYSIS</a:t>
            </a:r>
            <a:endParaRPr sz="24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4A7D6"/>
        </a:solidFill>
        <a:effectLst/>
      </p:bgPr>
    </p:bg>
    <p:spTree>
      <p:nvGrpSpPr>
        <p:cNvPr id="1" name="Shape 91"/>
        <p:cNvGrpSpPr/>
        <p:nvPr/>
      </p:nvGrpSpPr>
      <p:grpSpPr>
        <a:xfrm>
          <a:off x="0" y="0"/>
          <a:ext cx="0" cy="0"/>
          <a:chOff x="0" y="0"/>
          <a:chExt cx="0" cy="0"/>
        </a:xfrm>
      </p:grpSpPr>
      <p:sp>
        <p:nvSpPr>
          <p:cNvPr id="92" name="Google Shape;92;p16"/>
          <p:cNvSpPr txBox="1"/>
          <p:nvPr/>
        </p:nvSpPr>
        <p:spPr>
          <a:xfrm>
            <a:off x="6272375" y="905250"/>
            <a:ext cx="2537400" cy="3333000"/>
          </a:xfrm>
          <a:prstGeom prst="rect">
            <a:avLst/>
          </a:prstGeom>
          <a:solidFill>
            <a:srgbClr val="B4A7D6"/>
          </a:solid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lt1"/>
              </a:buClr>
              <a:buSzPts val="1100"/>
              <a:buFont typeface="Lexend Medium"/>
              <a:buChar char="●"/>
            </a:pPr>
            <a:r>
              <a:rPr lang="en" sz="1100">
                <a:solidFill>
                  <a:schemeClr val="lt1"/>
                </a:solidFill>
                <a:latin typeface="Lexend Medium"/>
                <a:ea typeface="Lexend Medium"/>
                <a:cs typeface="Lexend Medium"/>
                <a:sym typeface="Lexend Medium"/>
              </a:rPr>
              <a:t>The sales fulfillment rate of ~81% indicates service gaps and an inability to fully meet customer demand.</a:t>
            </a:r>
            <a:br>
              <a:rPr lang="en" sz="1100">
                <a:solidFill>
                  <a:schemeClr val="lt1"/>
                </a:solidFill>
                <a:latin typeface="Lexend Medium"/>
                <a:ea typeface="Lexend Medium"/>
                <a:cs typeface="Lexend Medium"/>
                <a:sym typeface="Lexend Medium"/>
              </a:rPr>
            </a:br>
            <a:endParaRPr sz="1100">
              <a:solidFill>
                <a:schemeClr val="lt1"/>
              </a:solidFill>
              <a:latin typeface="Lexend Medium"/>
              <a:ea typeface="Lexend Medium"/>
              <a:cs typeface="Lexend Medium"/>
              <a:sym typeface="Lexend Medium"/>
            </a:endParaRPr>
          </a:p>
          <a:p>
            <a:pPr marL="457200" lvl="0" indent="-298450" algn="l" rtl="0">
              <a:spcBef>
                <a:spcPts val="0"/>
              </a:spcBef>
              <a:spcAft>
                <a:spcPts val="0"/>
              </a:spcAft>
              <a:buClr>
                <a:schemeClr val="lt1"/>
              </a:buClr>
              <a:buSzPts val="1100"/>
              <a:buFont typeface="Lexend Medium"/>
              <a:buChar char="●"/>
            </a:pPr>
            <a:r>
              <a:rPr lang="en" sz="1100">
                <a:solidFill>
                  <a:schemeClr val="lt1"/>
                </a:solidFill>
                <a:latin typeface="Lexend Medium"/>
                <a:ea typeface="Lexend Medium"/>
                <a:cs typeface="Lexend Medium"/>
                <a:sym typeface="Lexend Medium"/>
              </a:rPr>
              <a:t>Skincare shows higher demand than available stock across locations, creating stockout risk and potential revenue loss.</a:t>
            </a:r>
            <a:br>
              <a:rPr lang="en" sz="1100">
                <a:solidFill>
                  <a:schemeClr val="lt1"/>
                </a:solidFill>
                <a:latin typeface="Lexend Medium"/>
                <a:ea typeface="Lexend Medium"/>
                <a:cs typeface="Lexend Medium"/>
                <a:sym typeface="Lexend Medium"/>
              </a:rPr>
            </a:br>
            <a:endParaRPr sz="1100">
              <a:solidFill>
                <a:schemeClr val="lt1"/>
              </a:solidFill>
              <a:latin typeface="Lexend Medium"/>
              <a:ea typeface="Lexend Medium"/>
              <a:cs typeface="Lexend Medium"/>
              <a:sym typeface="Lexend Medium"/>
            </a:endParaRPr>
          </a:p>
          <a:p>
            <a:pPr marL="457200" lvl="0" indent="-298450" algn="l" rtl="0">
              <a:spcBef>
                <a:spcPts val="0"/>
              </a:spcBef>
              <a:spcAft>
                <a:spcPts val="0"/>
              </a:spcAft>
              <a:buClr>
                <a:schemeClr val="lt1"/>
              </a:buClr>
              <a:buSzPts val="1100"/>
              <a:buFont typeface="Lexend Medium"/>
              <a:buChar char="●"/>
            </a:pPr>
            <a:r>
              <a:rPr lang="en" sz="1100">
                <a:solidFill>
                  <a:schemeClr val="lt1"/>
                </a:solidFill>
                <a:latin typeface="Lexend Medium"/>
                <a:ea typeface="Lexend Medium"/>
                <a:cs typeface="Lexend Medium"/>
                <a:sym typeface="Lexend Medium"/>
              </a:rPr>
              <a:t>Haircare and cosmetics maintain relatively higher stock levels despite lower demand, indicating overstocking and inefficient capital deployment.</a:t>
            </a:r>
            <a:endParaRPr sz="11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p:txBody>
      </p:sp>
      <p:pic>
        <p:nvPicPr>
          <p:cNvPr id="93" name="Google Shape;93;p16" title="WhatsApp Image 2026-01-20 at 22.39.01 (1).jpeg"/>
          <p:cNvPicPr preferRelativeResize="0"/>
          <p:nvPr/>
        </p:nvPicPr>
        <p:blipFill>
          <a:blip r:embed="rId3">
            <a:alphaModFix/>
          </a:blip>
          <a:stretch>
            <a:fillRect/>
          </a:stretch>
        </p:blipFill>
        <p:spPr>
          <a:xfrm>
            <a:off x="222500" y="905288"/>
            <a:ext cx="5981274" cy="3332924"/>
          </a:xfrm>
          <a:prstGeom prst="rect">
            <a:avLst/>
          </a:prstGeom>
          <a:noFill/>
          <a:ln>
            <a:noFill/>
          </a:ln>
        </p:spPr>
      </p:pic>
      <p:sp>
        <p:nvSpPr>
          <p:cNvPr id="94" name="Google Shape;94;p16"/>
          <p:cNvSpPr txBox="1">
            <a:spLocks noGrp="1"/>
          </p:cNvSpPr>
          <p:nvPr>
            <p:ph type="title"/>
          </p:nvPr>
        </p:nvSpPr>
        <p:spPr>
          <a:xfrm>
            <a:off x="311550" y="173150"/>
            <a:ext cx="8520900" cy="534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t>PATTERN-2: INVENTORY &amp; AVAILABILITY OVERVIEW</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body" idx="4294967295"/>
          </p:nvPr>
        </p:nvSpPr>
        <p:spPr>
          <a:xfrm>
            <a:off x="251050" y="852238"/>
            <a:ext cx="2866500" cy="3653400"/>
          </a:xfrm>
          <a:prstGeom prst="rect">
            <a:avLst/>
          </a:prstGeom>
          <a:solidFill>
            <a:srgbClr val="CCCCCC"/>
          </a:solidFill>
        </p:spPr>
        <p:txBody>
          <a:bodyPr spcFirstLastPara="1" wrap="square" lIns="91425" tIns="91425" rIns="91425" bIns="91425" anchor="t" anchorCtr="0">
            <a:noAutofit/>
          </a:bodyPr>
          <a:lstStyle/>
          <a:p>
            <a:pPr marL="457200" lvl="0" indent="-298450" algn="l" rtl="0">
              <a:spcBef>
                <a:spcPts val="1200"/>
              </a:spcBef>
              <a:spcAft>
                <a:spcPts val="0"/>
              </a:spcAft>
              <a:buSzPts val="1100"/>
              <a:buFont typeface="Lexend"/>
              <a:buChar char="●"/>
            </a:pPr>
            <a:r>
              <a:rPr lang="en" sz="1100">
                <a:latin typeface="Lexend"/>
                <a:ea typeface="Lexend"/>
                <a:cs typeface="Lexend"/>
                <a:sym typeface="Lexend"/>
              </a:rPr>
              <a:t>Skincare has the highest production volume, aligning with its strong sales performance and reinforcing its role as the primary demand driver.</a:t>
            </a:r>
            <a:br>
              <a:rPr lang="en" sz="1100">
                <a:latin typeface="Lexend"/>
                <a:ea typeface="Lexend"/>
                <a:cs typeface="Lexend"/>
                <a:sym typeface="Lexend"/>
              </a:rPr>
            </a:br>
            <a:endParaRPr sz="1100">
              <a:latin typeface="Lexend"/>
              <a:ea typeface="Lexend"/>
              <a:cs typeface="Lexend"/>
              <a:sym typeface="Lexend"/>
            </a:endParaRPr>
          </a:p>
          <a:p>
            <a:pPr marL="457200" lvl="0" indent="-298450" algn="l" rtl="0">
              <a:spcBef>
                <a:spcPts val="0"/>
              </a:spcBef>
              <a:spcAft>
                <a:spcPts val="0"/>
              </a:spcAft>
              <a:buSzPts val="1100"/>
              <a:buFont typeface="Lexend"/>
              <a:buChar char="●"/>
            </a:pPr>
            <a:r>
              <a:rPr lang="en" sz="1100">
                <a:latin typeface="Lexend"/>
                <a:ea typeface="Lexend"/>
                <a:cs typeface="Lexend"/>
                <a:sym typeface="Lexend"/>
              </a:rPr>
              <a:t>Haircare exhibits the highest defect rate and longer manufacturing lead times, indicating quality inefficiencies and higher production costs.</a:t>
            </a:r>
            <a:br>
              <a:rPr lang="en" sz="1100">
                <a:latin typeface="Lexend"/>
                <a:ea typeface="Lexend"/>
                <a:cs typeface="Lexend"/>
                <a:sym typeface="Lexend"/>
              </a:rPr>
            </a:br>
            <a:endParaRPr sz="1100">
              <a:latin typeface="Lexend"/>
              <a:ea typeface="Lexend"/>
              <a:cs typeface="Lexend"/>
              <a:sym typeface="Lexend"/>
            </a:endParaRPr>
          </a:p>
          <a:p>
            <a:pPr marL="457200" lvl="0" indent="-298450" algn="l" rtl="0">
              <a:spcBef>
                <a:spcPts val="0"/>
              </a:spcBef>
              <a:spcAft>
                <a:spcPts val="0"/>
              </a:spcAft>
              <a:buSzPts val="1100"/>
              <a:buFont typeface="Lexend"/>
              <a:buChar char="●"/>
            </a:pPr>
            <a:r>
              <a:rPr lang="en" sz="1100">
                <a:latin typeface="Lexend"/>
                <a:ea typeface="Lexend"/>
                <a:cs typeface="Lexend"/>
                <a:sym typeface="Lexend"/>
              </a:rPr>
              <a:t>A high volume of pending and failed inspections creates production delays, reducing effective output and impacting downstream supply reliability.</a:t>
            </a:r>
            <a:endParaRPr sz="1100">
              <a:latin typeface="Lexend"/>
              <a:ea typeface="Lexend"/>
              <a:cs typeface="Lexend"/>
              <a:sym typeface="Lexend"/>
            </a:endParaRPr>
          </a:p>
          <a:p>
            <a:pPr marL="0" lvl="0" indent="0" algn="l" rtl="0">
              <a:spcBef>
                <a:spcPts val="1200"/>
              </a:spcBef>
              <a:spcAft>
                <a:spcPts val="0"/>
              </a:spcAft>
              <a:buNone/>
            </a:pPr>
            <a:endParaRPr sz="1200">
              <a:latin typeface="Lexend"/>
              <a:ea typeface="Lexend"/>
              <a:cs typeface="Lexend"/>
              <a:sym typeface="Lexend"/>
            </a:endParaRPr>
          </a:p>
          <a:p>
            <a:pPr marL="457200" lvl="0" indent="0" algn="l" rtl="0">
              <a:spcBef>
                <a:spcPts val="1200"/>
              </a:spcBef>
              <a:spcAft>
                <a:spcPts val="1000"/>
              </a:spcAft>
              <a:buNone/>
            </a:pPr>
            <a:endParaRPr sz="1400">
              <a:latin typeface="Lexend Medium"/>
              <a:ea typeface="Lexend Medium"/>
              <a:cs typeface="Lexend Medium"/>
              <a:sym typeface="Lexend Medium"/>
            </a:endParaRPr>
          </a:p>
        </p:txBody>
      </p:sp>
      <p:pic>
        <p:nvPicPr>
          <p:cNvPr id="100" name="Google Shape;100;p17" title="WhatsApp Image 2026-01-20 at 22.39.02.jpeg"/>
          <p:cNvPicPr preferRelativeResize="0"/>
          <p:nvPr/>
        </p:nvPicPr>
        <p:blipFill>
          <a:blip r:embed="rId3">
            <a:alphaModFix/>
          </a:blip>
          <a:stretch>
            <a:fillRect/>
          </a:stretch>
        </p:blipFill>
        <p:spPr>
          <a:xfrm>
            <a:off x="3236500" y="973925"/>
            <a:ext cx="5726124" cy="3410024"/>
          </a:xfrm>
          <a:prstGeom prst="rect">
            <a:avLst/>
          </a:prstGeom>
          <a:noFill/>
          <a:ln>
            <a:noFill/>
          </a:ln>
        </p:spPr>
      </p:pic>
      <p:sp>
        <p:nvSpPr>
          <p:cNvPr id="101" name="Google Shape;101;p17"/>
          <p:cNvSpPr txBox="1">
            <a:spLocks noGrp="1"/>
          </p:cNvSpPr>
          <p:nvPr>
            <p:ph type="title" idx="4294967295"/>
          </p:nvPr>
        </p:nvSpPr>
        <p:spPr>
          <a:xfrm>
            <a:off x="320100" y="227975"/>
            <a:ext cx="8503800" cy="52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t>PATTERN-3: MANUFACTURING &amp; QUALITY ANALYSIS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9715074" y="3122075"/>
            <a:ext cx="1851300" cy="1658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endParaRPr sz="2400" b="0"/>
          </a:p>
        </p:txBody>
      </p:sp>
      <p:sp>
        <p:nvSpPr>
          <p:cNvPr id="107" name="Google Shape;107;p18"/>
          <p:cNvSpPr txBox="1"/>
          <p:nvPr/>
        </p:nvSpPr>
        <p:spPr>
          <a:xfrm>
            <a:off x="141300" y="937524"/>
            <a:ext cx="2962800" cy="3460200"/>
          </a:xfrm>
          <a:prstGeom prst="rect">
            <a:avLst/>
          </a:prstGeom>
          <a:solidFill>
            <a:schemeClr val="lt1"/>
          </a:solid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2"/>
              </a:buClr>
              <a:buSzPts val="1100"/>
              <a:buChar char="●"/>
            </a:pPr>
            <a:r>
              <a:rPr lang="en" sz="1100">
                <a:solidFill>
                  <a:schemeClr val="dk2"/>
                </a:solidFill>
                <a:latin typeface="Lexend Medium"/>
                <a:ea typeface="Lexend Medium"/>
                <a:cs typeface="Lexend Medium"/>
                <a:sym typeface="Lexend Medium"/>
              </a:rPr>
              <a:t>Average SKU lead times are relatively high, indicating delays in order fulfillment and reduced service responsiveness.</a:t>
            </a:r>
            <a:br>
              <a:rPr lang="en" sz="1100">
                <a:solidFill>
                  <a:schemeClr val="dk2"/>
                </a:solidFill>
                <a:latin typeface="Lexend Medium"/>
                <a:ea typeface="Lexend Medium"/>
                <a:cs typeface="Lexend Medium"/>
                <a:sym typeface="Lexend Medium"/>
              </a:rPr>
            </a:br>
            <a:endParaRPr sz="1100">
              <a:solidFill>
                <a:schemeClr val="dk2"/>
              </a:solidFill>
              <a:latin typeface="Lexend Medium"/>
              <a:ea typeface="Lexend Medium"/>
              <a:cs typeface="Lexend Medium"/>
              <a:sym typeface="Lexend Medium"/>
            </a:endParaRPr>
          </a:p>
          <a:p>
            <a:pPr marL="457200" lvl="0" indent="-298450" algn="l" rtl="0">
              <a:lnSpc>
                <a:spcPct val="115000"/>
              </a:lnSpc>
              <a:spcBef>
                <a:spcPts val="0"/>
              </a:spcBef>
              <a:spcAft>
                <a:spcPts val="0"/>
              </a:spcAft>
              <a:buClr>
                <a:schemeClr val="dk2"/>
              </a:buClr>
              <a:buSzPts val="1100"/>
              <a:buChar char="●"/>
            </a:pPr>
            <a:r>
              <a:rPr lang="en" sz="1100">
                <a:solidFill>
                  <a:schemeClr val="dk2"/>
                </a:solidFill>
                <a:latin typeface="Lexend Medium"/>
                <a:ea typeface="Lexend Medium"/>
                <a:cs typeface="Lexend Medium"/>
                <a:sym typeface="Lexend Medium"/>
              </a:rPr>
              <a:t>Sea and rail offer lower shipping costs but significantly longer transit times, while air provides speed at a substantially higher cost, reflecting a clear cost–time trade-off.</a:t>
            </a:r>
            <a:br>
              <a:rPr lang="en" sz="1100">
                <a:solidFill>
                  <a:schemeClr val="dk2"/>
                </a:solidFill>
                <a:latin typeface="Lexend Medium"/>
                <a:ea typeface="Lexend Medium"/>
                <a:cs typeface="Lexend Medium"/>
                <a:sym typeface="Lexend Medium"/>
              </a:rPr>
            </a:br>
            <a:endParaRPr sz="1100">
              <a:solidFill>
                <a:schemeClr val="dk2"/>
              </a:solidFill>
              <a:latin typeface="Lexend Medium"/>
              <a:ea typeface="Lexend Medium"/>
              <a:cs typeface="Lexend Medium"/>
              <a:sym typeface="Lexend Medium"/>
            </a:endParaRPr>
          </a:p>
          <a:p>
            <a:pPr marL="457200" lvl="0" indent="-298450" algn="l" rtl="0">
              <a:lnSpc>
                <a:spcPct val="115000"/>
              </a:lnSpc>
              <a:spcBef>
                <a:spcPts val="0"/>
              </a:spcBef>
              <a:spcAft>
                <a:spcPts val="0"/>
              </a:spcAft>
              <a:buClr>
                <a:schemeClr val="dk2"/>
              </a:buClr>
              <a:buSzPts val="1100"/>
              <a:buChar char="●"/>
            </a:pPr>
            <a:r>
              <a:rPr lang="en" sz="1100">
                <a:solidFill>
                  <a:schemeClr val="dk2"/>
                </a:solidFill>
                <a:latin typeface="Lexend Medium"/>
                <a:ea typeface="Lexend Medium"/>
                <a:cs typeface="Lexend Medium"/>
                <a:sym typeface="Lexend Medium"/>
              </a:rPr>
              <a:t>Carrier-level performance shows cost and lead-time imbalances, highlighting inefficiencies in carrier selection and route optimization.</a:t>
            </a:r>
            <a:br>
              <a:rPr lang="en" sz="1100">
                <a:solidFill>
                  <a:schemeClr val="dk2"/>
                </a:solidFill>
                <a:latin typeface="Lexend Medium"/>
                <a:ea typeface="Lexend Medium"/>
                <a:cs typeface="Lexend Medium"/>
                <a:sym typeface="Lexend Medium"/>
              </a:rPr>
            </a:br>
            <a:endParaRPr sz="1100">
              <a:solidFill>
                <a:schemeClr val="dk2"/>
              </a:solidFill>
              <a:latin typeface="Lexend Medium"/>
              <a:ea typeface="Lexend Medium"/>
              <a:cs typeface="Lexend Medium"/>
              <a:sym typeface="Lexend Medium"/>
            </a:endParaRPr>
          </a:p>
          <a:p>
            <a:pPr marL="0" lvl="0" indent="0" algn="l" rtl="0">
              <a:spcBef>
                <a:spcPts val="1200"/>
              </a:spcBef>
              <a:spcAft>
                <a:spcPts val="0"/>
              </a:spcAft>
              <a:buNone/>
            </a:pPr>
            <a:endParaRPr sz="1300">
              <a:solidFill>
                <a:schemeClr val="dk2"/>
              </a:solidFill>
              <a:latin typeface="Lexend Medium"/>
              <a:ea typeface="Lexend Medium"/>
              <a:cs typeface="Lexend Medium"/>
              <a:sym typeface="Lexend Medium"/>
            </a:endParaRPr>
          </a:p>
        </p:txBody>
      </p:sp>
      <p:pic>
        <p:nvPicPr>
          <p:cNvPr id="108" name="Google Shape;108;p18" title="WhatsApp Image 2026-01-20 at 22.39.02 (1).jpeg"/>
          <p:cNvPicPr preferRelativeResize="0"/>
          <p:nvPr/>
        </p:nvPicPr>
        <p:blipFill>
          <a:blip r:embed="rId3">
            <a:alphaModFix/>
          </a:blip>
          <a:stretch>
            <a:fillRect/>
          </a:stretch>
        </p:blipFill>
        <p:spPr>
          <a:xfrm>
            <a:off x="3202300" y="937526"/>
            <a:ext cx="5803000" cy="3460200"/>
          </a:xfrm>
          <a:prstGeom prst="rect">
            <a:avLst/>
          </a:prstGeom>
          <a:noFill/>
          <a:ln>
            <a:noFill/>
          </a:ln>
        </p:spPr>
      </p:pic>
      <p:sp>
        <p:nvSpPr>
          <p:cNvPr id="109" name="Google Shape;109;p18"/>
          <p:cNvSpPr txBox="1">
            <a:spLocks noGrp="1"/>
          </p:cNvSpPr>
          <p:nvPr>
            <p:ph type="title"/>
          </p:nvPr>
        </p:nvSpPr>
        <p:spPr>
          <a:xfrm>
            <a:off x="139950" y="200575"/>
            <a:ext cx="8864100" cy="548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solidFill>
                  <a:schemeClr val="dk2"/>
                </a:solidFill>
              </a:rPr>
              <a:t>PATTERN-4: LOGISTICS &amp; TRANSACTION PERFORMANCE</a:t>
            </a:r>
            <a:endParaRPr sz="24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349800" y="1023525"/>
            <a:ext cx="8444400" cy="36888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SzPts val="1400"/>
              <a:buFont typeface="Lexend"/>
              <a:buChar char="●"/>
            </a:pPr>
            <a:r>
              <a:rPr lang="en" sz="1400" b="0">
                <a:latin typeface="Lexend"/>
                <a:ea typeface="Lexend"/>
                <a:cs typeface="Lexend"/>
                <a:sym typeface="Lexend"/>
              </a:rPr>
              <a:t>The analysis reveals a clear demand–supply disconnect, where high-demand products such as skin care are not adequately supported by inventory and production capacity, resulting in stockouts and lost revenue opportunities, while slower-moving categories remain overstocked.</a:t>
            </a:r>
            <a:br>
              <a:rPr lang="en" sz="1400" b="0">
                <a:latin typeface="Lexend"/>
                <a:ea typeface="Lexend"/>
                <a:cs typeface="Lexend"/>
                <a:sym typeface="Lexend"/>
              </a:rPr>
            </a:br>
            <a:endParaRPr sz="1400" b="0">
              <a:latin typeface="Lexend"/>
              <a:ea typeface="Lexend"/>
              <a:cs typeface="Lexend"/>
              <a:sym typeface="Lexend"/>
            </a:endParaRPr>
          </a:p>
          <a:p>
            <a:pPr marL="457200" lvl="0" indent="-317500" algn="l" rtl="0">
              <a:lnSpc>
                <a:spcPct val="115000"/>
              </a:lnSpc>
              <a:spcBef>
                <a:spcPts val="0"/>
              </a:spcBef>
              <a:spcAft>
                <a:spcPts val="0"/>
              </a:spcAft>
              <a:buSzPts val="1400"/>
              <a:buFont typeface="Lexend"/>
              <a:buChar char="●"/>
            </a:pPr>
            <a:r>
              <a:rPr lang="en" sz="1400" b="0">
                <a:latin typeface="Lexend"/>
                <a:ea typeface="Lexend"/>
                <a:cs typeface="Lexend"/>
                <a:sym typeface="Lexend"/>
              </a:rPr>
              <a:t>Quality inefficiencies and inspection backlogs further constrain effective supply by reducing usable inventory and increasing manufacturing lead times, weakening the organization’s ability to meet market demand consistently.</a:t>
            </a:r>
            <a:br>
              <a:rPr lang="en" sz="1400" b="0">
                <a:latin typeface="Lexend"/>
                <a:ea typeface="Lexend"/>
                <a:cs typeface="Lexend"/>
                <a:sym typeface="Lexend"/>
              </a:rPr>
            </a:br>
            <a:endParaRPr sz="1400" b="0">
              <a:latin typeface="Lexend"/>
              <a:ea typeface="Lexend"/>
              <a:cs typeface="Lexend"/>
              <a:sym typeface="Lexend"/>
            </a:endParaRPr>
          </a:p>
          <a:p>
            <a:pPr marL="457200" lvl="0" indent="-317500" algn="l" rtl="0">
              <a:lnSpc>
                <a:spcPct val="115000"/>
              </a:lnSpc>
              <a:spcBef>
                <a:spcPts val="0"/>
              </a:spcBef>
              <a:spcAft>
                <a:spcPts val="0"/>
              </a:spcAft>
              <a:buSzPts val="1400"/>
              <a:buFont typeface="Lexend"/>
              <a:buChar char="●"/>
            </a:pPr>
            <a:r>
              <a:rPr lang="en" sz="1400" b="0">
                <a:latin typeface="Lexend"/>
                <a:ea typeface="Lexend"/>
                <a:cs typeface="Lexend"/>
                <a:sym typeface="Lexend"/>
              </a:rPr>
              <a:t>These upstream inefficiencies are compounded by logistics delays and suboptimal cost–time trade-offs, which extend order fulfillment cycles and limit service responsiveness, ultimately impacting customer experience and revenue realization.</a:t>
            </a:r>
            <a:br>
              <a:rPr lang="en" sz="1400" b="0">
                <a:latin typeface="Lexend"/>
                <a:ea typeface="Lexend"/>
                <a:cs typeface="Lexend"/>
                <a:sym typeface="Lexend"/>
              </a:rPr>
            </a:br>
            <a:endParaRPr sz="1400" b="0">
              <a:latin typeface="Lexend"/>
              <a:ea typeface="Lexend"/>
              <a:cs typeface="Lexend"/>
              <a:sym typeface="Lexend"/>
            </a:endParaRPr>
          </a:p>
          <a:p>
            <a:pPr marL="0" lvl="0" indent="0" algn="l" rtl="0">
              <a:spcBef>
                <a:spcPts val="1200"/>
              </a:spcBef>
              <a:spcAft>
                <a:spcPts val="0"/>
              </a:spcAft>
              <a:buClr>
                <a:schemeClr val="dk2"/>
              </a:buClr>
              <a:buSzPts val="1100"/>
              <a:buFont typeface="Arial"/>
              <a:buNone/>
            </a:pPr>
            <a:endParaRPr sz="1600" b="0">
              <a:latin typeface="Lexend"/>
              <a:ea typeface="Lexend"/>
              <a:cs typeface="Lexend"/>
              <a:sym typeface="Lexend"/>
            </a:endParaRPr>
          </a:p>
          <a:p>
            <a:pPr marL="0" lvl="0" indent="0" algn="l" rtl="0">
              <a:spcBef>
                <a:spcPts val="0"/>
              </a:spcBef>
              <a:spcAft>
                <a:spcPts val="0"/>
              </a:spcAft>
              <a:buNone/>
            </a:pPr>
            <a:endParaRPr sz="1600" b="0">
              <a:latin typeface="Lexend"/>
              <a:ea typeface="Lexend"/>
              <a:cs typeface="Lexend"/>
              <a:sym typeface="Lexend"/>
            </a:endParaRPr>
          </a:p>
        </p:txBody>
      </p:sp>
      <p:sp>
        <p:nvSpPr>
          <p:cNvPr id="115" name="Google Shape;115;p19"/>
          <p:cNvSpPr txBox="1"/>
          <p:nvPr/>
        </p:nvSpPr>
        <p:spPr>
          <a:xfrm>
            <a:off x="349800" y="324000"/>
            <a:ext cx="8158200" cy="48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chemeClr val="lt1"/>
                </a:solidFill>
                <a:latin typeface="Lexend"/>
                <a:ea typeface="Lexend"/>
                <a:cs typeface="Lexend"/>
                <a:sym typeface="Lexend"/>
              </a:rPr>
              <a:t>CROSS-PATTERN BUSINESS INSIGHTS</a:t>
            </a:r>
            <a:endParaRPr sz="2800" b="1">
              <a:solidFill>
                <a:schemeClr val="lt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4A7D6"/>
        </a:solidFill>
        <a:effectLst/>
      </p:bgPr>
    </p:bg>
    <p:spTree>
      <p:nvGrpSpPr>
        <p:cNvPr id="1" name="Shape 119"/>
        <p:cNvGrpSpPr/>
        <p:nvPr/>
      </p:nvGrpSpPr>
      <p:grpSpPr>
        <a:xfrm>
          <a:off x="0" y="0"/>
          <a:ext cx="0" cy="0"/>
          <a:chOff x="0" y="0"/>
          <a:chExt cx="0" cy="0"/>
        </a:xfrm>
      </p:grpSpPr>
      <p:sp>
        <p:nvSpPr>
          <p:cNvPr id="120" name="Google Shape;120;p20"/>
          <p:cNvSpPr txBox="1"/>
          <p:nvPr/>
        </p:nvSpPr>
        <p:spPr>
          <a:xfrm>
            <a:off x="497925" y="831500"/>
            <a:ext cx="8215800" cy="40050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Implement demand-driven inventory allocation to rebalance stock toward high-velocity SKUs and high-demand locations, reducing stockouts and revenue leakage.</a:t>
            </a:r>
            <a:br>
              <a:rPr lang="en">
                <a:solidFill>
                  <a:schemeClr val="lt1"/>
                </a:solidFill>
                <a:latin typeface="Lexend"/>
                <a:ea typeface="Lexend"/>
                <a:cs typeface="Lexend"/>
                <a:sym typeface="Lexend"/>
              </a:rPr>
            </a:br>
            <a:endParaRPr>
              <a:solidFill>
                <a:schemeClr val="lt1"/>
              </a:solidFill>
              <a:latin typeface="Lexend"/>
              <a:ea typeface="Lexend"/>
              <a:cs typeface="Lexend"/>
              <a:sym typeface="Lexend"/>
            </a:endParaRPr>
          </a:p>
          <a:p>
            <a:pPr marL="457200" lvl="0" indent="-317500" algn="l" rtl="0">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Introduce sales-synchronized replenishment planning to align inventory cycles with actual demand trends, improving turnover and releasing tied-up working capital.</a:t>
            </a:r>
            <a:br>
              <a:rPr lang="en">
                <a:solidFill>
                  <a:schemeClr val="lt1"/>
                </a:solidFill>
                <a:latin typeface="Lexend"/>
                <a:ea typeface="Lexend"/>
                <a:cs typeface="Lexend"/>
                <a:sym typeface="Lexend"/>
              </a:rPr>
            </a:br>
            <a:endParaRPr>
              <a:solidFill>
                <a:schemeClr val="lt1"/>
              </a:solidFill>
              <a:latin typeface="Lexend"/>
              <a:ea typeface="Lexend"/>
              <a:cs typeface="Lexend"/>
              <a:sym typeface="Lexend"/>
            </a:endParaRPr>
          </a:p>
          <a:p>
            <a:pPr marL="457200" lvl="0" indent="-317500" algn="l" rtl="0">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Realign manufacturing output with demand signals by prioritizing high-growth SKUs and moderating production of structurally weaker categories.</a:t>
            </a:r>
            <a:br>
              <a:rPr lang="en">
                <a:solidFill>
                  <a:schemeClr val="lt1"/>
                </a:solidFill>
                <a:latin typeface="Lexend"/>
                <a:ea typeface="Lexend"/>
                <a:cs typeface="Lexend"/>
                <a:sym typeface="Lexend"/>
              </a:rPr>
            </a:br>
            <a:endParaRPr>
              <a:solidFill>
                <a:schemeClr val="lt1"/>
              </a:solidFill>
              <a:latin typeface="Lexend"/>
              <a:ea typeface="Lexend"/>
              <a:cs typeface="Lexend"/>
              <a:sym typeface="Lexend"/>
            </a:endParaRPr>
          </a:p>
          <a:p>
            <a:pPr marL="457200" lvl="0" indent="-317500" algn="l" rtl="0">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Stabilize and shorten manufacturing lead times through standardized planning and scheduling practices to improve service reliability and replenishment responsiveness.</a:t>
            </a:r>
            <a:br>
              <a:rPr lang="en">
                <a:solidFill>
                  <a:schemeClr val="lt1"/>
                </a:solidFill>
                <a:latin typeface="Lexend"/>
                <a:ea typeface="Lexend"/>
                <a:cs typeface="Lexend"/>
                <a:sym typeface="Lexend"/>
              </a:rPr>
            </a:br>
            <a:endParaRPr>
              <a:solidFill>
                <a:schemeClr val="lt1"/>
              </a:solidFill>
              <a:latin typeface="Lexend"/>
              <a:ea typeface="Lexend"/>
              <a:cs typeface="Lexend"/>
              <a:sym typeface="Lexend"/>
            </a:endParaRPr>
          </a:p>
          <a:p>
            <a:pPr marL="457200" lvl="0" indent="-317500" algn="l" rtl="0">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Adopt a cost-to-serve–based logistics strategy and integrated planning framework to optimize carrier selection, reduce fulfillment delays, and enable data-driven decision making.</a:t>
            </a:r>
            <a:endParaRPr>
              <a:solidFill>
                <a:schemeClr val="lt1"/>
              </a:solidFill>
              <a:latin typeface="Lexend"/>
              <a:ea typeface="Lexend"/>
              <a:cs typeface="Lexend"/>
              <a:sym typeface="Lexend"/>
            </a:endParaRPr>
          </a:p>
          <a:p>
            <a:pPr marL="0" lvl="0" indent="0" algn="l" rtl="0">
              <a:spcBef>
                <a:spcPts val="0"/>
              </a:spcBef>
              <a:spcAft>
                <a:spcPts val="0"/>
              </a:spcAft>
              <a:buClr>
                <a:schemeClr val="dk2"/>
              </a:buClr>
              <a:buSzPts val="1100"/>
              <a:buFont typeface="Arial"/>
              <a:buNone/>
            </a:pPr>
            <a:endParaRPr>
              <a:solidFill>
                <a:schemeClr val="lt1"/>
              </a:solidFill>
              <a:latin typeface="Lexend"/>
              <a:ea typeface="Lexend"/>
              <a:cs typeface="Lexend"/>
              <a:sym typeface="Lexend"/>
            </a:endParaRPr>
          </a:p>
        </p:txBody>
      </p:sp>
      <p:sp>
        <p:nvSpPr>
          <p:cNvPr id="121" name="Google Shape;121;p20"/>
          <p:cNvSpPr txBox="1"/>
          <p:nvPr/>
        </p:nvSpPr>
        <p:spPr>
          <a:xfrm>
            <a:off x="539075" y="200575"/>
            <a:ext cx="7996500" cy="5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1"/>
                </a:solidFill>
                <a:latin typeface="Lexend"/>
                <a:ea typeface="Lexend"/>
                <a:cs typeface="Lexend"/>
                <a:sym typeface="Lexend"/>
              </a:rPr>
              <a:t>BUSINESS RECOMMENDATIONS</a:t>
            </a:r>
            <a:endParaRPr sz="2400" b="1">
              <a:solidFill>
                <a:schemeClr val="lt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125"/>
        <p:cNvGrpSpPr/>
        <p:nvPr/>
      </p:nvGrpSpPr>
      <p:grpSpPr>
        <a:xfrm>
          <a:off x="0" y="0"/>
          <a:ext cx="0" cy="0"/>
          <a:chOff x="0" y="0"/>
          <a:chExt cx="0" cy="0"/>
        </a:xfrm>
      </p:grpSpPr>
      <p:sp>
        <p:nvSpPr>
          <p:cNvPr id="126" name="Google Shape;126;p21"/>
          <p:cNvSpPr txBox="1"/>
          <p:nvPr/>
        </p:nvSpPr>
        <p:spPr>
          <a:xfrm>
            <a:off x="497925" y="831500"/>
            <a:ext cx="8215800" cy="40050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1200"/>
              </a:spcBef>
              <a:spcAft>
                <a:spcPts val="0"/>
              </a:spcAft>
              <a:buClr>
                <a:schemeClr val="dk2"/>
              </a:buClr>
              <a:buSzPts val="1300"/>
              <a:buChar char="●"/>
            </a:pPr>
            <a:r>
              <a:rPr lang="en" sz="1300">
                <a:solidFill>
                  <a:schemeClr val="dk2"/>
                </a:solidFill>
                <a:latin typeface="Lexend"/>
                <a:ea typeface="Lexend"/>
                <a:cs typeface="Lexend"/>
                <a:sym typeface="Lexend"/>
              </a:rPr>
              <a:t>The supply chain is structurally demand-led, with skincare emerging as the primary revenue and volume driver across all major functions.</a:t>
            </a:r>
            <a:br>
              <a:rPr lang="en" sz="1300">
                <a:solidFill>
                  <a:schemeClr val="dk2"/>
                </a:solidFill>
                <a:latin typeface="Lexend"/>
                <a:ea typeface="Lexend"/>
                <a:cs typeface="Lexend"/>
                <a:sym typeface="Lexend"/>
              </a:rPr>
            </a:br>
            <a:endParaRPr sz="1300">
              <a:solidFill>
                <a:schemeClr val="dk2"/>
              </a:solidFill>
              <a:latin typeface="Lexend"/>
              <a:ea typeface="Lexend"/>
              <a:cs typeface="Lexend"/>
              <a:sym typeface="Lexend"/>
            </a:endParaRPr>
          </a:p>
          <a:p>
            <a:pPr marL="457200" lvl="0" indent="-311150" algn="l" rtl="0">
              <a:lnSpc>
                <a:spcPct val="115000"/>
              </a:lnSpc>
              <a:spcBef>
                <a:spcPts val="0"/>
              </a:spcBef>
              <a:spcAft>
                <a:spcPts val="0"/>
              </a:spcAft>
              <a:buClr>
                <a:schemeClr val="dk2"/>
              </a:buClr>
              <a:buSzPts val="1300"/>
              <a:buChar char="●"/>
            </a:pPr>
            <a:r>
              <a:rPr lang="en" sz="1300">
                <a:solidFill>
                  <a:schemeClr val="dk2"/>
                </a:solidFill>
                <a:latin typeface="Lexend"/>
                <a:ea typeface="Lexend"/>
                <a:cs typeface="Lexend"/>
                <a:sym typeface="Lexend"/>
              </a:rPr>
              <a:t>Persistent misalignment between sales velocity and inventory allocation is causing revenue leakage in high-demand SKUs and excess holding costs in slower-moving categories.</a:t>
            </a:r>
            <a:br>
              <a:rPr lang="en" sz="1300">
                <a:solidFill>
                  <a:schemeClr val="dk2"/>
                </a:solidFill>
                <a:latin typeface="Lexend"/>
                <a:ea typeface="Lexend"/>
                <a:cs typeface="Lexend"/>
                <a:sym typeface="Lexend"/>
              </a:rPr>
            </a:br>
            <a:endParaRPr sz="1300">
              <a:solidFill>
                <a:schemeClr val="dk2"/>
              </a:solidFill>
              <a:latin typeface="Lexend"/>
              <a:ea typeface="Lexend"/>
              <a:cs typeface="Lexend"/>
              <a:sym typeface="Lexend"/>
            </a:endParaRPr>
          </a:p>
          <a:p>
            <a:pPr marL="457200" lvl="0" indent="-311150" algn="l" rtl="0">
              <a:lnSpc>
                <a:spcPct val="115000"/>
              </a:lnSpc>
              <a:spcBef>
                <a:spcPts val="0"/>
              </a:spcBef>
              <a:spcAft>
                <a:spcPts val="0"/>
              </a:spcAft>
              <a:buClr>
                <a:schemeClr val="dk2"/>
              </a:buClr>
              <a:buSzPts val="1300"/>
              <a:buChar char="●"/>
            </a:pPr>
            <a:r>
              <a:rPr lang="en" sz="1300">
                <a:solidFill>
                  <a:schemeClr val="dk2"/>
                </a:solidFill>
                <a:latin typeface="Lexend"/>
                <a:ea typeface="Lexend"/>
                <a:cs typeface="Lexend"/>
                <a:sym typeface="Lexend"/>
              </a:rPr>
              <a:t>Manufacturing broadly supports demand trends but is constrained by lead-time variability and quality inefficiencies, weakening replenishment responsiveness.</a:t>
            </a:r>
            <a:br>
              <a:rPr lang="en" sz="1300">
                <a:solidFill>
                  <a:schemeClr val="dk2"/>
                </a:solidFill>
                <a:latin typeface="Lexend"/>
                <a:ea typeface="Lexend"/>
                <a:cs typeface="Lexend"/>
                <a:sym typeface="Lexend"/>
              </a:rPr>
            </a:br>
            <a:endParaRPr sz="1300">
              <a:solidFill>
                <a:schemeClr val="dk2"/>
              </a:solidFill>
              <a:latin typeface="Lexend"/>
              <a:ea typeface="Lexend"/>
              <a:cs typeface="Lexend"/>
              <a:sym typeface="Lexend"/>
            </a:endParaRPr>
          </a:p>
          <a:p>
            <a:pPr marL="457200" lvl="0" indent="-311150" algn="l" rtl="0">
              <a:lnSpc>
                <a:spcPct val="115000"/>
              </a:lnSpc>
              <a:spcBef>
                <a:spcPts val="0"/>
              </a:spcBef>
              <a:spcAft>
                <a:spcPts val="0"/>
              </a:spcAft>
              <a:buClr>
                <a:schemeClr val="dk2"/>
              </a:buClr>
              <a:buSzPts val="1300"/>
              <a:buChar char="●"/>
            </a:pPr>
            <a:r>
              <a:rPr lang="en" sz="1300">
                <a:solidFill>
                  <a:schemeClr val="dk2"/>
                </a:solidFill>
                <a:latin typeface="Lexend"/>
                <a:ea typeface="Lexend"/>
                <a:cs typeface="Lexend"/>
                <a:sym typeface="Lexend"/>
              </a:rPr>
              <a:t>Logistics execution exhibits cost–time trade-offs and carrier variability that amplify upstream planning and production inefficiencies.</a:t>
            </a:r>
            <a:br>
              <a:rPr lang="en" sz="1300">
                <a:solidFill>
                  <a:schemeClr val="dk2"/>
                </a:solidFill>
                <a:latin typeface="Lexend"/>
                <a:ea typeface="Lexend"/>
                <a:cs typeface="Lexend"/>
                <a:sym typeface="Lexend"/>
              </a:rPr>
            </a:br>
            <a:endParaRPr sz="1300">
              <a:solidFill>
                <a:schemeClr val="dk2"/>
              </a:solidFill>
              <a:latin typeface="Lexend"/>
              <a:ea typeface="Lexend"/>
              <a:cs typeface="Lexend"/>
              <a:sym typeface="Lexend"/>
            </a:endParaRPr>
          </a:p>
          <a:p>
            <a:pPr marL="457200" lvl="0" indent="-311150" algn="l" rtl="0">
              <a:lnSpc>
                <a:spcPct val="115000"/>
              </a:lnSpc>
              <a:spcBef>
                <a:spcPts val="0"/>
              </a:spcBef>
              <a:spcAft>
                <a:spcPts val="0"/>
              </a:spcAft>
              <a:buClr>
                <a:schemeClr val="dk2"/>
              </a:buClr>
              <a:buSzPts val="1300"/>
              <a:buChar char="●"/>
            </a:pPr>
            <a:r>
              <a:rPr lang="en" sz="1300">
                <a:solidFill>
                  <a:schemeClr val="dk2"/>
                </a:solidFill>
                <a:latin typeface="Lexend"/>
                <a:ea typeface="Lexend"/>
                <a:cs typeface="Lexend"/>
                <a:sym typeface="Lexend"/>
              </a:rPr>
              <a:t>Overall, the supply chain shows strong growth potential but requires tighter end-to-end integration, demand-synchronized planning, and operational discipline to achieve sustainable performance improvement.</a:t>
            </a:r>
            <a:br>
              <a:rPr lang="en" sz="1300">
                <a:solidFill>
                  <a:schemeClr val="dk2"/>
                </a:solidFill>
                <a:latin typeface="Lexend"/>
                <a:ea typeface="Lexend"/>
                <a:cs typeface="Lexend"/>
                <a:sym typeface="Lexend"/>
              </a:rPr>
            </a:br>
            <a:endParaRPr sz="1300">
              <a:solidFill>
                <a:schemeClr val="dk2"/>
              </a:solidFill>
              <a:latin typeface="Lexend"/>
              <a:ea typeface="Lexend"/>
              <a:cs typeface="Lexend"/>
              <a:sym typeface="Lexend"/>
            </a:endParaRPr>
          </a:p>
          <a:p>
            <a:pPr marL="0" lvl="0" indent="0" algn="l" rtl="0">
              <a:spcBef>
                <a:spcPts val="1200"/>
              </a:spcBef>
              <a:spcAft>
                <a:spcPts val="0"/>
              </a:spcAft>
              <a:buClr>
                <a:schemeClr val="dk2"/>
              </a:buClr>
              <a:buSzPts val="1100"/>
              <a:buFont typeface="Arial"/>
              <a:buNone/>
            </a:pPr>
            <a:endParaRPr sz="1300">
              <a:solidFill>
                <a:schemeClr val="dk2"/>
              </a:solidFill>
              <a:latin typeface="Lexend"/>
              <a:ea typeface="Lexend"/>
              <a:cs typeface="Lexend"/>
              <a:sym typeface="Lexend"/>
            </a:endParaRPr>
          </a:p>
        </p:txBody>
      </p:sp>
      <p:sp>
        <p:nvSpPr>
          <p:cNvPr id="127" name="Google Shape;127;p21"/>
          <p:cNvSpPr txBox="1"/>
          <p:nvPr/>
        </p:nvSpPr>
        <p:spPr>
          <a:xfrm>
            <a:off x="539075" y="200575"/>
            <a:ext cx="7996500" cy="5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2"/>
                </a:solidFill>
                <a:latin typeface="Lexend"/>
                <a:ea typeface="Lexend"/>
                <a:cs typeface="Lexend"/>
                <a:sym typeface="Lexend"/>
              </a:rPr>
              <a:t>CONCLUSION</a:t>
            </a:r>
            <a:endParaRPr sz="2400" b="1">
              <a:solidFill>
                <a:schemeClr val="dk2"/>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p22"/>
          <p:cNvSpPr txBox="1"/>
          <p:nvPr/>
        </p:nvSpPr>
        <p:spPr>
          <a:xfrm>
            <a:off x="2308350" y="1885100"/>
            <a:ext cx="45273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b="1">
                <a:solidFill>
                  <a:schemeClr val="dk2"/>
                </a:solidFill>
                <a:latin typeface="Lexend"/>
                <a:ea typeface="Lexend"/>
                <a:cs typeface="Lexend"/>
                <a:sym typeface="Lexend"/>
              </a:rPr>
              <a:t>THANK YOU!</a:t>
            </a:r>
            <a:endParaRPr sz="4800" b="1">
              <a:solidFill>
                <a:schemeClr val="dk2"/>
              </a:solidFill>
              <a:latin typeface="Lexend"/>
              <a:ea typeface="Lexend"/>
              <a:cs typeface="Lexend"/>
              <a:sym typeface="Lexend"/>
            </a:endParaRPr>
          </a:p>
        </p:txBody>
      </p:sp>
      <p:sp>
        <p:nvSpPr>
          <p:cNvPr id="133" name="Google Shape;133;p22"/>
          <p:cNvSpPr txBox="1"/>
          <p:nvPr/>
        </p:nvSpPr>
        <p:spPr>
          <a:xfrm>
            <a:off x="4996805" y="2063400"/>
            <a:ext cx="27024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4800" b="1">
              <a:solidFill>
                <a:schemeClr val="lt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767</Words>
  <Application>Microsoft Office PowerPoint</Application>
  <PresentationFormat>On-screen Show (16:9)</PresentationFormat>
  <Paragraphs>44</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Lato</vt:lpstr>
      <vt:lpstr>Lexend</vt:lpstr>
      <vt:lpstr>Arial</vt:lpstr>
      <vt:lpstr>Raleway Medium</vt:lpstr>
      <vt:lpstr>Raleway</vt:lpstr>
      <vt:lpstr>Raleway SemiBold</vt:lpstr>
      <vt:lpstr>Lexend Medium</vt:lpstr>
      <vt:lpstr>Swiss</vt:lpstr>
      <vt:lpstr>CLIENT PROJECT SUPPLY CHAIN ANALYSIS</vt:lpstr>
      <vt:lpstr>INTRODUCTION</vt:lpstr>
      <vt:lpstr>PATTERN-1: SALES &amp; REVENUE ANALYSIS</vt:lpstr>
      <vt:lpstr>PATTERN-2: INVENTORY &amp; AVAILABILITY OVERVIEW</vt:lpstr>
      <vt:lpstr>PATTERN-3: MANUFACTURING &amp; QUALITY ANALYSIS</vt:lpstr>
      <vt:lpstr>PowerPoint Presentation</vt:lpstr>
      <vt:lpstr>The analysis reveals a clear demand–supply disconnect, where high-demand products such as skin care are not adequately supported by inventory and production capacity, resulting in stockouts and lost revenue opportunities, while slower-moving categories remain overstocked.  Quality inefficiencies and inspection backlogs further constrain effective supply by reducing usable inventory and increasing manufacturing lead times, weakening the organization’s ability to meet market demand consistently.  These upstream inefficiencies are compounded by logistics delays and suboptimal cost–time trade-offs, which extend order fulfillment cycles and limit service responsiveness, ultimately impacting customer experience and revenue realization.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Medhakshi Pandya</cp:lastModifiedBy>
  <cp:revision>1</cp:revision>
  <dcterms:modified xsi:type="dcterms:W3CDTF">2026-01-23T15:25:50Z</dcterms:modified>
</cp:coreProperties>
</file>